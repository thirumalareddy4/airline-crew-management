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Red Hat Display" charset="1" panose="02010503040201060303"/>
      <p:regular r:id="rId19"/>
    </p:embeddedFont>
    <p:embeddedFont>
      <p:font typeface="Glacial Indifferen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1635"/>
            <a:ext cx="11695306" cy="474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Airline Crew Management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1183" y="5792276"/>
            <a:ext cx="7770887" cy="7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 u="sng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Using Graph &amp; Linked List in C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42318">
            <a:off x="13654428" y="80032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1183" y="7193616"/>
            <a:ext cx="7585192" cy="229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</a:pPr>
            <a:r>
              <a:rPr lang="en-US" sz="4373" b="true">
                <a:solidFill>
                  <a:srgbClr val="F4F4E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Presented by:</a:t>
            </a:r>
          </a:p>
          <a:p>
            <a:pPr algn="l">
              <a:lnSpc>
                <a:spcPts val="6122"/>
              </a:lnSpc>
            </a:pPr>
            <a:r>
              <a:rPr lang="en-US" sz="4373" b="true">
                <a:solidFill>
                  <a:srgbClr val="F4F4E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Member 1: B.Thirumala Reddy</a:t>
            </a:r>
          </a:p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b="true" sz="4373">
                <a:solidFill>
                  <a:srgbClr val="F4F4E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Member 2: V.Jayadeep Ram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4255355" y="46215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25842" y="1295699"/>
            <a:ext cx="15206705" cy="7730970"/>
            <a:chOff x="0" y="0"/>
            <a:chExt cx="20275607" cy="1030796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0275607" cy="10307960"/>
              <a:chOff x="0" y="0"/>
              <a:chExt cx="4005058" cy="20361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05058" cy="2036140"/>
              </a:xfrm>
              <a:custGeom>
                <a:avLst/>
                <a:gdLst/>
                <a:ahLst/>
                <a:cxnLst/>
                <a:rect r="r" b="b" t="t" l="l"/>
                <a:pathLst>
                  <a:path h="2036140" w="4005058">
                    <a:moveTo>
                      <a:pt x="10182" y="0"/>
                    </a:moveTo>
                    <a:lnTo>
                      <a:pt x="3994876" y="0"/>
                    </a:lnTo>
                    <a:cubicBezTo>
                      <a:pt x="3997577" y="0"/>
                      <a:pt x="4000166" y="1073"/>
                      <a:pt x="4002076" y="2982"/>
                    </a:cubicBezTo>
                    <a:cubicBezTo>
                      <a:pt x="4003985" y="4892"/>
                      <a:pt x="4005058" y="7482"/>
                      <a:pt x="4005058" y="10182"/>
                    </a:cubicBezTo>
                    <a:lnTo>
                      <a:pt x="4005058" y="2025958"/>
                    </a:lnTo>
                    <a:cubicBezTo>
                      <a:pt x="4005058" y="2031581"/>
                      <a:pt x="4000500" y="2036140"/>
                      <a:pt x="3994876" y="2036140"/>
                    </a:cubicBezTo>
                    <a:lnTo>
                      <a:pt x="10182" y="2036140"/>
                    </a:lnTo>
                    <a:cubicBezTo>
                      <a:pt x="4559" y="2036140"/>
                      <a:pt x="0" y="2031581"/>
                      <a:pt x="0" y="2025958"/>
                    </a:cubicBezTo>
                    <a:lnTo>
                      <a:pt x="0" y="10182"/>
                    </a:lnTo>
                    <a:cubicBezTo>
                      <a:pt x="0" y="4559"/>
                      <a:pt x="4559" y="0"/>
                      <a:pt x="1018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05058" cy="2074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64952" y="1341303"/>
              <a:ext cx="17771808" cy="1633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 u="sng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DESCRIPTION: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31616" y="4146699"/>
            <a:ext cx="13343418" cy="374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2"/>
              </a:lnSpc>
              <a:spcBef>
                <a:spcPct val="0"/>
              </a:spcBef>
            </a:pPr>
            <a:r>
              <a:rPr lang="en-US" sz="4258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This project is a console-based application designed to manage airline crew members efficiently. It uses data structures like linked lists and graphs to represent crew details and their assignments.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8471356" y="-3840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965089"/>
            <a:ext cx="16343414" cy="8277558"/>
            <a:chOff x="0" y="0"/>
            <a:chExt cx="21791218" cy="110367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791218" cy="11036744"/>
              <a:chOff x="0" y="0"/>
              <a:chExt cx="4005058" cy="202846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05058" cy="2028469"/>
              </a:xfrm>
              <a:custGeom>
                <a:avLst/>
                <a:gdLst/>
                <a:ahLst/>
                <a:cxnLst/>
                <a:rect r="r" b="b" t="t" l="l"/>
                <a:pathLst>
                  <a:path h="2028469" w="4005058">
                    <a:moveTo>
                      <a:pt x="10182" y="0"/>
                    </a:moveTo>
                    <a:lnTo>
                      <a:pt x="3994876" y="0"/>
                    </a:lnTo>
                    <a:cubicBezTo>
                      <a:pt x="3997577" y="0"/>
                      <a:pt x="4000166" y="1073"/>
                      <a:pt x="4002076" y="2982"/>
                    </a:cubicBezTo>
                    <a:cubicBezTo>
                      <a:pt x="4003985" y="4892"/>
                      <a:pt x="4005058" y="7482"/>
                      <a:pt x="4005058" y="10182"/>
                    </a:cubicBezTo>
                    <a:lnTo>
                      <a:pt x="4005058" y="2018286"/>
                    </a:lnTo>
                    <a:cubicBezTo>
                      <a:pt x="4005058" y="2023910"/>
                      <a:pt x="4000500" y="2028469"/>
                      <a:pt x="3994876" y="2028469"/>
                    </a:cubicBezTo>
                    <a:lnTo>
                      <a:pt x="10182" y="2028469"/>
                    </a:lnTo>
                    <a:cubicBezTo>
                      <a:pt x="4559" y="2028469"/>
                      <a:pt x="0" y="2023910"/>
                      <a:pt x="0" y="2018286"/>
                    </a:cubicBezTo>
                    <a:lnTo>
                      <a:pt x="0" y="10182"/>
                    </a:lnTo>
                    <a:cubicBezTo>
                      <a:pt x="0" y="4559"/>
                      <a:pt x="4559" y="0"/>
                      <a:pt x="1018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05058" cy="20665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73030" y="463780"/>
              <a:ext cx="19100259" cy="1718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88"/>
                </a:lnSpc>
              </a:pPr>
              <a:r>
                <a:rPr lang="en-US" sz="9472" u="sng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Problem Statement: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5541" y="2750957"/>
            <a:ext cx="15250905" cy="674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228" indent="-415114" lvl="1">
              <a:lnSpc>
                <a:spcPts val="5383"/>
              </a:lnSpc>
              <a:buFont typeface="Arial"/>
              <a:buChar char="•"/>
            </a:pPr>
            <a:r>
              <a:rPr lang="en-US" sz="384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Airline crew management is often handled manually or with basic systems</a:t>
            </a:r>
          </a:p>
          <a:p>
            <a:pPr algn="l" marL="830228" indent="-415114" lvl="1">
              <a:lnSpc>
                <a:spcPts val="5383"/>
              </a:lnSpc>
              <a:buFont typeface="Arial"/>
              <a:buChar char="•"/>
            </a:pPr>
            <a:r>
              <a:rPr lang="en-US" sz="384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Difficult to maintain relationships between crew members</a:t>
            </a:r>
          </a:p>
          <a:p>
            <a:pPr algn="l" marL="830228" indent="-415114" lvl="1">
              <a:lnSpc>
                <a:spcPts val="5383"/>
              </a:lnSpc>
              <a:buFont typeface="Arial"/>
              <a:buChar char="•"/>
            </a:pPr>
            <a:r>
              <a:rPr lang="en-US" sz="384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efficient way to track assignments between different crew</a:t>
            </a:r>
          </a:p>
          <a:p>
            <a:pPr algn="l" marL="830228" indent="-415114" lvl="1">
              <a:lnSpc>
                <a:spcPts val="5383"/>
              </a:lnSpc>
              <a:buFont typeface="Arial"/>
              <a:buChar char="•"/>
            </a:pPr>
            <a:r>
              <a:rPr lang="en-US" sz="384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 chances of duplication, errors, and data inconsistency</a:t>
            </a:r>
          </a:p>
          <a:p>
            <a:pPr algn="l" marL="830228" indent="-415114" lvl="1">
              <a:lnSpc>
                <a:spcPts val="5383"/>
              </a:lnSpc>
              <a:buFont typeface="Arial"/>
              <a:buChar char="•"/>
            </a:pPr>
            <a:r>
              <a:rPr lang="en-US" sz="384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Lack of visualization of crew connections</a:t>
            </a:r>
          </a:p>
          <a:p>
            <a:pPr algn="l">
              <a:lnSpc>
                <a:spcPts val="538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8844239" y="322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9986" y="1028700"/>
            <a:ext cx="15789314" cy="8835847"/>
            <a:chOff x="0" y="0"/>
            <a:chExt cx="21052419" cy="1178113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54746" y="0"/>
              <a:ext cx="20830912" cy="11781130"/>
              <a:chOff x="0" y="0"/>
              <a:chExt cx="4114748" cy="232713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114748" cy="2327137"/>
              </a:xfrm>
              <a:custGeom>
                <a:avLst/>
                <a:gdLst/>
                <a:ahLst/>
                <a:cxnLst/>
                <a:rect r="r" b="b" t="t" l="l"/>
                <a:pathLst>
                  <a:path h="2327137" w="4114748">
                    <a:moveTo>
                      <a:pt x="9911" y="0"/>
                    </a:moveTo>
                    <a:lnTo>
                      <a:pt x="4104837" y="0"/>
                    </a:lnTo>
                    <a:cubicBezTo>
                      <a:pt x="4107466" y="0"/>
                      <a:pt x="4109987" y="1044"/>
                      <a:pt x="4111845" y="2903"/>
                    </a:cubicBezTo>
                    <a:cubicBezTo>
                      <a:pt x="4113704" y="4761"/>
                      <a:pt x="4114748" y="7282"/>
                      <a:pt x="4114748" y="9911"/>
                    </a:cubicBezTo>
                    <a:lnTo>
                      <a:pt x="4114748" y="2317226"/>
                    </a:lnTo>
                    <a:cubicBezTo>
                      <a:pt x="4114748" y="2319855"/>
                      <a:pt x="4113704" y="2322375"/>
                      <a:pt x="4111845" y="2324234"/>
                    </a:cubicBezTo>
                    <a:cubicBezTo>
                      <a:pt x="4109987" y="2326093"/>
                      <a:pt x="4107466" y="2327137"/>
                      <a:pt x="4104837" y="2327137"/>
                    </a:cubicBezTo>
                    <a:lnTo>
                      <a:pt x="9911" y="2327137"/>
                    </a:lnTo>
                    <a:cubicBezTo>
                      <a:pt x="7282" y="2327137"/>
                      <a:pt x="4761" y="2326093"/>
                      <a:pt x="2903" y="2324234"/>
                    </a:cubicBezTo>
                    <a:cubicBezTo>
                      <a:pt x="1044" y="2322375"/>
                      <a:pt x="0" y="2319855"/>
                      <a:pt x="0" y="2317226"/>
                    </a:cubicBezTo>
                    <a:lnTo>
                      <a:pt x="0" y="9911"/>
                    </a:lnTo>
                    <a:cubicBezTo>
                      <a:pt x="0" y="7282"/>
                      <a:pt x="1044" y="4761"/>
                      <a:pt x="2903" y="2903"/>
                    </a:cubicBezTo>
                    <a:cubicBezTo>
                      <a:pt x="4761" y="1044"/>
                      <a:pt x="7282" y="0"/>
                      <a:pt x="9911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114748" cy="23652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608108"/>
              <a:ext cx="21052419" cy="1633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</a:t>
              </a:r>
              <a:r>
                <a:rPr lang="en-US" sz="9000" u="sng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Real-World Application: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40204" y="2920996"/>
            <a:ext cx="13668557" cy="691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Used in airline companies to manage pilots, staff, and crew</a:t>
            </a:r>
          </a:p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Helps assign crew members to flights or tasks</a:t>
            </a:r>
          </a:p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Maintains relationships between different crew members</a:t>
            </a:r>
          </a:p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Can be extended to:</a:t>
            </a:r>
          </a:p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Railway employee systems</a:t>
            </a:r>
          </a:p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Corporate team management</a:t>
            </a:r>
          </a:p>
          <a:p>
            <a:pPr algn="l" marL="842798" indent="-421399" lvl="1">
              <a:lnSpc>
                <a:spcPts val="5465"/>
              </a:lnSpc>
              <a:buFont typeface="Arial"/>
              <a:buChar char="•"/>
            </a:pPr>
            <a:r>
              <a:rPr lang="en-US" sz="39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Social network connections</a:t>
            </a:r>
          </a:p>
          <a:p>
            <a:pPr algn="l">
              <a:lnSpc>
                <a:spcPts val="546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8844239" y="322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934873"/>
            <a:ext cx="16230600" cy="8178802"/>
            <a:chOff x="0" y="0"/>
            <a:chExt cx="21640800" cy="109050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640800" cy="10905069"/>
              <a:chOff x="0" y="0"/>
              <a:chExt cx="3948460" cy="198967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948460" cy="1989678"/>
              </a:xfrm>
              <a:custGeom>
                <a:avLst/>
                <a:gdLst/>
                <a:ahLst/>
                <a:cxnLst/>
                <a:rect r="r" b="b" t="t" l="l"/>
                <a:pathLst>
                  <a:path h="1989678" w="3948460">
                    <a:moveTo>
                      <a:pt x="10328" y="0"/>
                    </a:moveTo>
                    <a:lnTo>
                      <a:pt x="3938132" y="0"/>
                    </a:lnTo>
                    <a:cubicBezTo>
                      <a:pt x="3940871" y="0"/>
                      <a:pt x="3943498" y="1088"/>
                      <a:pt x="3945435" y="3025"/>
                    </a:cubicBezTo>
                    <a:cubicBezTo>
                      <a:pt x="3947372" y="4962"/>
                      <a:pt x="3948460" y="7589"/>
                      <a:pt x="3948460" y="10328"/>
                    </a:cubicBezTo>
                    <a:lnTo>
                      <a:pt x="3948460" y="1979350"/>
                    </a:lnTo>
                    <a:cubicBezTo>
                      <a:pt x="3948460" y="1985054"/>
                      <a:pt x="3943836" y="1989678"/>
                      <a:pt x="3938132" y="1989678"/>
                    </a:cubicBezTo>
                    <a:lnTo>
                      <a:pt x="10328" y="1989678"/>
                    </a:lnTo>
                    <a:cubicBezTo>
                      <a:pt x="4624" y="1989678"/>
                      <a:pt x="0" y="1985054"/>
                      <a:pt x="0" y="1979350"/>
                    </a:cubicBezTo>
                    <a:lnTo>
                      <a:pt x="0" y="10328"/>
                    </a:lnTo>
                    <a:cubicBezTo>
                      <a:pt x="0" y="4624"/>
                      <a:pt x="4624" y="0"/>
                      <a:pt x="1032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948460" cy="20277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87322" y="706750"/>
              <a:ext cx="17368848" cy="150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8083"/>
                </a:lnSpc>
              </a:pPr>
              <a:r>
                <a:rPr lang="en-US" sz="8333" u="sng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Data Structures Used: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1612" y="3018046"/>
            <a:ext cx="14053792" cy="55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497" indent="-420748" lvl="1">
              <a:lnSpc>
                <a:spcPts val="4014"/>
              </a:lnSpc>
              <a:buAutoNum type="arabicPeriod" startAt="1"/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Linked List </a:t>
            </a:r>
          </a:p>
          <a:p>
            <a:pPr algn="l">
              <a:lnSpc>
                <a:spcPts val="4014"/>
              </a:lnSpc>
            </a:pPr>
          </a:p>
          <a:p>
            <a:pPr algn="l" marL="841497" indent="-420748" lvl="1">
              <a:lnSpc>
                <a:spcPts val="4014"/>
              </a:lnSpc>
              <a:buFont typeface="Arial"/>
              <a:buChar char="•"/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Stores all crew members dynamically</a:t>
            </a:r>
          </a:p>
          <a:p>
            <a:pPr algn="l" marL="841497" indent="-420748" lvl="1">
              <a:lnSpc>
                <a:spcPts val="4014"/>
              </a:lnSpc>
              <a:buFont typeface="Arial"/>
              <a:buChar char="•"/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Allows easy insertion and deletion</a:t>
            </a:r>
          </a:p>
          <a:p>
            <a:pPr algn="l">
              <a:lnSpc>
                <a:spcPts val="4014"/>
              </a:lnSpc>
              <a:spcBef>
                <a:spcPct val="0"/>
              </a:spcBef>
            </a:pPr>
          </a:p>
          <a:p>
            <a:pPr algn="l">
              <a:lnSpc>
                <a:spcPts val="4014"/>
              </a:lnSpc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2.</a:t>
            </a: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Graph (Adjacency List) </a:t>
            </a:r>
          </a:p>
          <a:p>
            <a:pPr algn="l">
              <a:lnSpc>
                <a:spcPts val="4014"/>
              </a:lnSpc>
            </a:pPr>
          </a:p>
          <a:p>
            <a:pPr algn="l">
              <a:lnSpc>
                <a:spcPts val="4014"/>
              </a:lnSpc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 </a:t>
            </a: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Represents connections between crew</a:t>
            </a:r>
          </a:p>
          <a:p>
            <a:pPr algn="l">
              <a:lnSpc>
                <a:spcPts val="4014"/>
              </a:lnSpc>
            </a:pPr>
          </a:p>
          <a:p>
            <a:pPr algn="l" marL="841497" indent="-420748" lvl="1">
              <a:lnSpc>
                <a:spcPts val="4014"/>
              </a:lnSpc>
              <a:buFont typeface="Arial"/>
              <a:buChar char="•"/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Each node = Crew member</a:t>
            </a:r>
          </a:p>
          <a:p>
            <a:pPr algn="l" marL="841497" indent="-420748" lvl="1">
              <a:lnSpc>
                <a:spcPts val="4014"/>
              </a:lnSpc>
              <a:buFont typeface="Arial"/>
              <a:buChar char="•"/>
            </a:pPr>
            <a:r>
              <a:rPr lang="en-US" sz="3897" spc="2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Each edge = Assignment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10580422" y="72242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339973"/>
            <a:ext cx="15963852" cy="8115898"/>
            <a:chOff x="0" y="0"/>
            <a:chExt cx="21285136" cy="1082119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285136" cy="10821197"/>
              <a:chOff x="0" y="0"/>
              <a:chExt cx="4005058" cy="20361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05058" cy="2036140"/>
              </a:xfrm>
              <a:custGeom>
                <a:avLst/>
                <a:gdLst/>
                <a:ahLst/>
                <a:cxnLst/>
                <a:rect r="r" b="b" t="t" l="l"/>
                <a:pathLst>
                  <a:path h="2036140" w="4005058">
                    <a:moveTo>
                      <a:pt x="10182" y="0"/>
                    </a:moveTo>
                    <a:lnTo>
                      <a:pt x="3994876" y="0"/>
                    </a:lnTo>
                    <a:cubicBezTo>
                      <a:pt x="3997577" y="0"/>
                      <a:pt x="4000166" y="1073"/>
                      <a:pt x="4002076" y="2982"/>
                    </a:cubicBezTo>
                    <a:cubicBezTo>
                      <a:pt x="4003985" y="4892"/>
                      <a:pt x="4005058" y="7482"/>
                      <a:pt x="4005058" y="10182"/>
                    </a:cubicBezTo>
                    <a:lnTo>
                      <a:pt x="4005058" y="2025958"/>
                    </a:lnTo>
                    <a:cubicBezTo>
                      <a:pt x="4005058" y="2031581"/>
                      <a:pt x="4000500" y="2036140"/>
                      <a:pt x="3994876" y="2036140"/>
                    </a:cubicBezTo>
                    <a:lnTo>
                      <a:pt x="10182" y="2036140"/>
                    </a:lnTo>
                    <a:cubicBezTo>
                      <a:pt x="4559" y="2036140"/>
                      <a:pt x="0" y="2031581"/>
                      <a:pt x="0" y="2025958"/>
                    </a:cubicBezTo>
                    <a:lnTo>
                      <a:pt x="0" y="10182"/>
                    </a:lnTo>
                    <a:cubicBezTo>
                      <a:pt x="0" y="4559"/>
                      <a:pt x="4559" y="0"/>
                      <a:pt x="10182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05058" cy="2074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1979" y="700385"/>
              <a:ext cx="18656672" cy="1723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6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53821" y="1405255"/>
            <a:ext cx="9651504" cy="154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u="sng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Design: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3821" y="3133021"/>
            <a:ext cx="11525299" cy="64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Menu-driven console application</a:t>
            </a:r>
          </a:p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interacts through options</a:t>
            </a:r>
          </a:p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Modular functions for each operation</a:t>
            </a:r>
          </a:p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Modules:</a:t>
            </a:r>
          </a:p>
          <a:p>
            <a:pPr algn="l" marL="719503" indent="-359751" lvl="1">
              <a:lnSpc>
                <a:spcPts val="4665"/>
              </a:lnSpc>
              <a:buAutoNum type="arabicPeriod" startAt="1"/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 Crew</a:t>
            </a:r>
          </a:p>
          <a:p>
            <a:pPr algn="l" marL="719503" indent="-359751" lvl="1">
              <a:lnSpc>
                <a:spcPts val="4665"/>
              </a:lnSpc>
              <a:buAutoNum type="arabicPeriod" startAt="1"/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Delete Crew</a:t>
            </a:r>
          </a:p>
          <a:p>
            <a:pPr algn="l" marL="719503" indent="-359751" lvl="1">
              <a:lnSpc>
                <a:spcPts val="4665"/>
              </a:lnSpc>
              <a:buAutoNum type="arabicPeriod" startAt="1"/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Update Crew</a:t>
            </a:r>
          </a:p>
          <a:p>
            <a:pPr algn="l" marL="719503" indent="-359751" lvl="1">
              <a:lnSpc>
                <a:spcPts val="4665"/>
              </a:lnSpc>
              <a:buAutoNum type="arabicPeriod" startAt="1"/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Search Crew</a:t>
            </a:r>
          </a:p>
          <a:p>
            <a:pPr algn="l" marL="719503" indent="-359751" lvl="1">
              <a:lnSpc>
                <a:spcPts val="4665"/>
              </a:lnSpc>
              <a:buAutoNum type="arabicPeriod" startAt="1"/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 Assignment</a:t>
            </a:r>
          </a:p>
          <a:p>
            <a:pPr algn="l" marL="719503" indent="-359751" lvl="1">
              <a:lnSpc>
                <a:spcPts val="4665"/>
              </a:lnSpc>
              <a:buAutoNum type="arabicPeriod" startAt="1"/>
            </a:pPr>
            <a:r>
              <a:rPr lang="en-US" sz="333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Display Graph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626729">
            <a:off x="11878550" y="2429250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49494" y="1299113"/>
            <a:ext cx="15389012" cy="7959187"/>
            <a:chOff x="0" y="0"/>
            <a:chExt cx="20518683" cy="1061224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0518683" cy="10612249"/>
              <a:chOff x="0" y="0"/>
              <a:chExt cx="3684894" cy="190582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84894" cy="1905825"/>
              </a:xfrm>
              <a:custGeom>
                <a:avLst/>
                <a:gdLst/>
                <a:ahLst/>
                <a:cxnLst/>
                <a:rect r="r" b="b" t="t" l="l"/>
                <a:pathLst>
                  <a:path h="1905825" w="3684894">
                    <a:moveTo>
                      <a:pt x="11067" y="0"/>
                    </a:moveTo>
                    <a:lnTo>
                      <a:pt x="3673827" y="0"/>
                    </a:lnTo>
                    <a:cubicBezTo>
                      <a:pt x="3679939" y="0"/>
                      <a:pt x="3684894" y="4955"/>
                      <a:pt x="3684894" y="11067"/>
                    </a:cubicBezTo>
                    <a:lnTo>
                      <a:pt x="3684894" y="1894758"/>
                    </a:lnTo>
                    <a:cubicBezTo>
                      <a:pt x="3684894" y="1900870"/>
                      <a:pt x="3679939" y="1905825"/>
                      <a:pt x="3673827" y="1905825"/>
                    </a:cubicBezTo>
                    <a:lnTo>
                      <a:pt x="11067" y="1905825"/>
                    </a:lnTo>
                    <a:cubicBezTo>
                      <a:pt x="4955" y="1905825"/>
                      <a:pt x="0" y="1900870"/>
                      <a:pt x="0" y="1894758"/>
                    </a:cubicBezTo>
                    <a:lnTo>
                      <a:pt x="0" y="11067"/>
                    </a:lnTo>
                    <a:cubicBezTo>
                      <a:pt x="0" y="4955"/>
                      <a:pt x="4955" y="0"/>
                      <a:pt x="11067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684894" cy="1943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70695" y="895649"/>
              <a:ext cx="15503929" cy="1679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33"/>
                </a:lnSpc>
              </a:pPr>
              <a:r>
                <a:rPr lang="en-US" sz="9209" u="sng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Algorithm: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61712" y="3570184"/>
            <a:ext cx="13184624" cy="502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</a:p>
          <a:p>
            <a:pPr algn="l">
              <a:lnSpc>
                <a:spcPts val="5006"/>
              </a:lnSpc>
            </a:pPr>
            <a:r>
              <a:rPr lang="en-US" sz="3576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🔹 Add Crew Take ID and name input  Check if ID   already exists If not, create new node Insert into linked list .</a:t>
            </a:r>
          </a:p>
          <a:p>
            <a:pPr algn="l">
              <a:lnSpc>
                <a:spcPts val="3886"/>
              </a:lnSpc>
            </a:pPr>
          </a:p>
          <a:p>
            <a:pPr algn="l">
              <a:lnSpc>
                <a:spcPts val="4532"/>
              </a:lnSpc>
            </a:pPr>
            <a:r>
              <a:rPr lang="en-US" sz="3237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🔹 Add Assignment Take two crew IDs Validate both IDs Prevent self-assignment  Check duplicate connection  Create edge in graph</a:t>
            </a:r>
          </a:p>
          <a:p>
            <a:pPr algn="l">
              <a:lnSpc>
                <a:spcPts val="369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9456655" y="666726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4963" y="830356"/>
            <a:ext cx="16334337" cy="8626288"/>
            <a:chOff x="0" y="0"/>
            <a:chExt cx="6039793" cy="31896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9793" cy="3189661"/>
            </a:xfrm>
            <a:custGeom>
              <a:avLst/>
              <a:gdLst/>
              <a:ahLst/>
              <a:cxnLst/>
              <a:rect r="r" b="b" t="t" l="l"/>
              <a:pathLst>
                <a:path h="3189661" w="6039793">
                  <a:moveTo>
                    <a:pt x="9479" y="0"/>
                  </a:moveTo>
                  <a:lnTo>
                    <a:pt x="6030314" y="0"/>
                  </a:lnTo>
                  <a:cubicBezTo>
                    <a:pt x="6035549" y="0"/>
                    <a:pt x="6039793" y="4244"/>
                    <a:pt x="6039793" y="9479"/>
                  </a:cubicBezTo>
                  <a:lnTo>
                    <a:pt x="6039793" y="3180181"/>
                  </a:lnTo>
                  <a:cubicBezTo>
                    <a:pt x="6039793" y="3185417"/>
                    <a:pt x="6035549" y="3189661"/>
                    <a:pt x="6030314" y="3189661"/>
                  </a:cubicBezTo>
                  <a:lnTo>
                    <a:pt x="9479" y="3189661"/>
                  </a:lnTo>
                  <a:cubicBezTo>
                    <a:pt x="4244" y="3189661"/>
                    <a:pt x="0" y="3185417"/>
                    <a:pt x="0" y="3180181"/>
                  </a:cubicBezTo>
                  <a:lnTo>
                    <a:pt x="0" y="9479"/>
                  </a:lnTo>
                  <a:cubicBezTo>
                    <a:pt x="0" y="4244"/>
                    <a:pt x="4244" y="0"/>
                    <a:pt x="9479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9793" cy="3227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324748" y="1192062"/>
            <a:ext cx="14454175" cy="155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u="sng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Implementation: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638" y="3264846"/>
            <a:ext cx="15071440" cy="518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3061" indent="-456531" lvl="1">
              <a:lnSpc>
                <a:spcPts val="5920"/>
              </a:lnSpc>
              <a:buFont typeface="Arial"/>
              <a:buChar char="•"/>
            </a:pPr>
            <a:r>
              <a:rPr lang="en-US" sz="42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Developed using C Programming Language</a:t>
            </a:r>
          </a:p>
          <a:p>
            <a:pPr algn="l" marL="913061" indent="-456531" lvl="1">
              <a:lnSpc>
                <a:spcPts val="5920"/>
              </a:lnSpc>
              <a:buFont typeface="Arial"/>
              <a:buChar char="•"/>
            </a:pPr>
            <a:r>
              <a:rPr lang="en-US" sz="42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Used structures to define crew and graph nodes</a:t>
            </a:r>
          </a:p>
          <a:p>
            <a:pPr algn="l" marL="913061" indent="-456531" lvl="1">
              <a:lnSpc>
                <a:spcPts val="5920"/>
              </a:lnSpc>
              <a:buFont typeface="Arial"/>
              <a:buChar char="•"/>
            </a:pPr>
            <a:r>
              <a:rPr lang="en-US" sz="42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Dynamic memory allocation using malloc() and free()</a:t>
            </a:r>
          </a:p>
          <a:p>
            <a:pPr algn="l" marL="913061" indent="-456531" lvl="1">
              <a:lnSpc>
                <a:spcPts val="5920"/>
              </a:lnSpc>
              <a:buFont typeface="Arial"/>
              <a:buChar char="•"/>
            </a:pPr>
            <a:r>
              <a:rPr lang="en-US" sz="42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validation to avoid invalid entries</a:t>
            </a:r>
          </a:p>
          <a:p>
            <a:pPr algn="l" marL="913061" indent="-456531" lvl="1">
              <a:lnSpc>
                <a:spcPts val="5920"/>
              </a:lnSpc>
              <a:buFont typeface="Arial"/>
              <a:buChar char="•"/>
            </a:pPr>
            <a:r>
              <a:rPr lang="en-US" sz="42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Modular coding for readability and maintenance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5081945" y="-15857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90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90" y="8822969"/>
                </a:lnTo>
                <a:lnTo>
                  <a:pt x="1222129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5308" y="1237072"/>
            <a:ext cx="15717384" cy="8021228"/>
            <a:chOff x="0" y="0"/>
            <a:chExt cx="20956512" cy="1069497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0956512" cy="10694970"/>
              <a:chOff x="0" y="0"/>
              <a:chExt cx="3788646" cy="193350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88647" cy="1933502"/>
              </a:xfrm>
              <a:custGeom>
                <a:avLst/>
                <a:gdLst/>
                <a:ahLst/>
                <a:cxnLst/>
                <a:rect r="r" b="b" t="t" l="l"/>
                <a:pathLst>
                  <a:path h="1933502" w="3788647">
                    <a:moveTo>
                      <a:pt x="10764" y="0"/>
                    </a:moveTo>
                    <a:lnTo>
                      <a:pt x="3777883" y="0"/>
                    </a:lnTo>
                    <a:cubicBezTo>
                      <a:pt x="3783828" y="0"/>
                      <a:pt x="3788647" y="4819"/>
                      <a:pt x="3788647" y="10764"/>
                    </a:cubicBezTo>
                    <a:lnTo>
                      <a:pt x="3788647" y="1922738"/>
                    </a:lnTo>
                    <a:cubicBezTo>
                      <a:pt x="3788647" y="1925593"/>
                      <a:pt x="3787513" y="1928331"/>
                      <a:pt x="3785494" y="1930349"/>
                    </a:cubicBezTo>
                    <a:cubicBezTo>
                      <a:pt x="3783475" y="1932368"/>
                      <a:pt x="3780737" y="1933502"/>
                      <a:pt x="3777883" y="1933502"/>
                    </a:cubicBezTo>
                    <a:lnTo>
                      <a:pt x="10764" y="1933502"/>
                    </a:lnTo>
                    <a:cubicBezTo>
                      <a:pt x="7909" y="1933502"/>
                      <a:pt x="5171" y="1932368"/>
                      <a:pt x="3153" y="1930349"/>
                    </a:cubicBezTo>
                    <a:cubicBezTo>
                      <a:pt x="1134" y="1928331"/>
                      <a:pt x="0" y="1925593"/>
                      <a:pt x="0" y="1922738"/>
                    </a:cubicBezTo>
                    <a:lnTo>
                      <a:pt x="0" y="10764"/>
                    </a:lnTo>
                    <a:cubicBezTo>
                      <a:pt x="0" y="7909"/>
                      <a:pt x="1134" y="5171"/>
                      <a:pt x="3153" y="3153"/>
                    </a:cubicBezTo>
                    <a:cubicBezTo>
                      <a:pt x="5171" y="1134"/>
                      <a:pt x="7909" y="0"/>
                      <a:pt x="1076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788646" cy="19716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93541" y="910023"/>
              <a:ext cx="15834752" cy="1801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4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97880" y="1576101"/>
            <a:ext cx="8742393" cy="157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0"/>
              </a:lnSpc>
              <a:spcBef>
                <a:spcPct val="0"/>
              </a:spcBef>
            </a:pPr>
            <a:r>
              <a:rPr lang="en-US" sz="9178" u="sng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Output: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2296" y="3549390"/>
            <a:ext cx="14033401" cy="483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2772" indent="-491386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During the demo, we will show:</a:t>
            </a:r>
          </a:p>
          <a:p>
            <a:pPr algn="l" marL="982772" indent="-491386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Adding multiple crew members</a:t>
            </a:r>
          </a:p>
          <a:p>
            <a:pPr algn="l" marL="982772" indent="-491386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Searching for a crew member</a:t>
            </a:r>
          </a:p>
          <a:p>
            <a:pPr algn="l" marL="982772" indent="-491386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Updating crew details</a:t>
            </a:r>
          </a:p>
          <a:p>
            <a:pPr algn="l" marL="982772" indent="-491386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Creating assignments between crew</a:t>
            </a:r>
          </a:p>
          <a:p>
            <a:pPr algn="l" marL="982772" indent="-491386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Displaying graph connections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542318">
            <a:off x="12076148" y="-228379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11415" y="859794"/>
            <a:ext cx="15656061" cy="8567413"/>
            <a:chOff x="0" y="0"/>
            <a:chExt cx="20874749" cy="1142321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0874749" cy="11423217"/>
              <a:chOff x="0" y="0"/>
              <a:chExt cx="3052642" cy="167048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052642" cy="1670487"/>
              </a:xfrm>
              <a:custGeom>
                <a:avLst/>
                <a:gdLst/>
                <a:ahLst/>
                <a:cxnLst/>
                <a:rect r="r" b="b" t="t" l="l"/>
                <a:pathLst>
                  <a:path h="1670487" w="3052642">
                    <a:moveTo>
                      <a:pt x="13359" y="0"/>
                    </a:moveTo>
                    <a:lnTo>
                      <a:pt x="3039283" y="0"/>
                    </a:lnTo>
                    <a:cubicBezTo>
                      <a:pt x="3046661" y="0"/>
                      <a:pt x="3052642" y="5981"/>
                      <a:pt x="3052642" y="13359"/>
                    </a:cubicBezTo>
                    <a:lnTo>
                      <a:pt x="3052642" y="1657128"/>
                    </a:lnTo>
                    <a:cubicBezTo>
                      <a:pt x="3052642" y="1660671"/>
                      <a:pt x="3051235" y="1664069"/>
                      <a:pt x="3048730" y="1666574"/>
                    </a:cubicBezTo>
                    <a:cubicBezTo>
                      <a:pt x="3046224" y="1669080"/>
                      <a:pt x="3042826" y="1670487"/>
                      <a:pt x="3039283" y="1670487"/>
                    </a:cubicBezTo>
                    <a:lnTo>
                      <a:pt x="13359" y="1670487"/>
                    </a:lnTo>
                    <a:cubicBezTo>
                      <a:pt x="5981" y="1670487"/>
                      <a:pt x="0" y="1664506"/>
                      <a:pt x="0" y="1657128"/>
                    </a:cubicBezTo>
                    <a:lnTo>
                      <a:pt x="0" y="13359"/>
                    </a:lnTo>
                    <a:cubicBezTo>
                      <a:pt x="0" y="9816"/>
                      <a:pt x="1407" y="6418"/>
                      <a:pt x="3913" y="3913"/>
                    </a:cubicBezTo>
                    <a:cubicBezTo>
                      <a:pt x="6418" y="1407"/>
                      <a:pt x="9816" y="0"/>
                      <a:pt x="13359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052642" cy="17085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91065" y="742856"/>
              <a:ext cx="18692618" cy="1649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8829"/>
                </a:lnSpc>
              </a:pPr>
              <a:r>
                <a:rPr lang="en-US" sz="9102" u="sng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Demo Explanation: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37643" y="3302456"/>
            <a:ext cx="14075556" cy="512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1109" indent="-450555" lvl="1">
              <a:lnSpc>
                <a:spcPts val="5843"/>
              </a:lnSpc>
              <a:buFont typeface="Arial"/>
              <a:buChar char="•"/>
            </a:pPr>
            <a:r>
              <a:rPr lang="en-US" sz="41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System successfully adds and manages crew</a:t>
            </a:r>
          </a:p>
          <a:p>
            <a:pPr algn="l" marL="901109" indent="-450555" lvl="1">
              <a:lnSpc>
                <a:spcPts val="5843"/>
              </a:lnSpc>
              <a:buFont typeface="Arial"/>
              <a:buChar char="•"/>
            </a:pPr>
            <a:r>
              <a:rPr lang="en-US" sz="41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Graph structure correctly shows relationships</a:t>
            </a:r>
          </a:p>
          <a:p>
            <a:pPr algn="l" marL="901109" indent="-450555" lvl="1">
              <a:lnSpc>
                <a:spcPts val="5843"/>
              </a:lnSpc>
              <a:buFont typeface="Arial"/>
              <a:buChar char="•"/>
            </a:pPr>
            <a:r>
              <a:rPr lang="en-US" sz="41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validation prevents errors</a:t>
            </a:r>
          </a:p>
          <a:p>
            <a:pPr algn="l" marL="901109" indent="-450555" lvl="1">
              <a:lnSpc>
                <a:spcPts val="5843"/>
              </a:lnSpc>
              <a:buFont typeface="Arial"/>
              <a:buChar char="•"/>
            </a:pPr>
            <a:r>
              <a:rPr lang="en-US" sz="41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Operations like search, update, delete work efficiently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5729">
            <a:off x="-3241105" y="-2477065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00015" y="1028700"/>
            <a:ext cx="15487971" cy="8429765"/>
            <a:chOff x="0" y="0"/>
            <a:chExt cx="3916205" cy="21315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16205" cy="2131505"/>
            </a:xfrm>
            <a:custGeom>
              <a:avLst/>
              <a:gdLst/>
              <a:ahLst/>
              <a:cxnLst/>
              <a:rect r="r" b="b" t="t" l="l"/>
              <a:pathLst>
                <a:path h="2131505" w="3916205">
                  <a:moveTo>
                    <a:pt x="9997" y="0"/>
                  </a:moveTo>
                  <a:lnTo>
                    <a:pt x="3906208" y="0"/>
                  </a:lnTo>
                  <a:cubicBezTo>
                    <a:pt x="3911729" y="0"/>
                    <a:pt x="3916205" y="4476"/>
                    <a:pt x="3916205" y="9997"/>
                  </a:cubicBezTo>
                  <a:lnTo>
                    <a:pt x="3916205" y="2121508"/>
                  </a:lnTo>
                  <a:cubicBezTo>
                    <a:pt x="3916205" y="2124159"/>
                    <a:pt x="3915152" y="2126702"/>
                    <a:pt x="3913277" y="2128577"/>
                  </a:cubicBezTo>
                  <a:cubicBezTo>
                    <a:pt x="3911402" y="2130452"/>
                    <a:pt x="3908859" y="2131505"/>
                    <a:pt x="3906208" y="2131505"/>
                  </a:cubicBezTo>
                  <a:lnTo>
                    <a:pt x="9997" y="2131505"/>
                  </a:lnTo>
                  <a:cubicBezTo>
                    <a:pt x="7346" y="2131505"/>
                    <a:pt x="4803" y="2130452"/>
                    <a:pt x="2928" y="2128577"/>
                  </a:cubicBezTo>
                  <a:cubicBezTo>
                    <a:pt x="1053" y="2126702"/>
                    <a:pt x="0" y="2124159"/>
                    <a:pt x="0" y="2121508"/>
                  </a:cubicBezTo>
                  <a:lnTo>
                    <a:pt x="0" y="9997"/>
                  </a:lnTo>
                  <a:cubicBezTo>
                    <a:pt x="0" y="7346"/>
                    <a:pt x="1053" y="4803"/>
                    <a:pt x="2928" y="2928"/>
                  </a:cubicBezTo>
                  <a:cubicBezTo>
                    <a:pt x="4803" y="1053"/>
                    <a:pt x="7346" y="0"/>
                    <a:pt x="9997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916205" cy="2169605"/>
            </a:xfrm>
            <a:prstGeom prst="rect">
              <a:avLst/>
            </a:prstGeom>
          </p:spPr>
          <p:txBody>
            <a:bodyPr anchor="ctr" rtlCol="false" tIns="52914" lIns="52914" bIns="52914" rIns="5291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09429" y="1273305"/>
            <a:ext cx="7660642" cy="1626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0"/>
              </a:lnSpc>
              <a:spcBef>
                <a:spcPct val="0"/>
              </a:spcBef>
            </a:pPr>
            <a:r>
              <a:rPr lang="en-US" sz="9478" u="sng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8133" y="3367696"/>
            <a:ext cx="13780468" cy="495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7253" indent="-503626" lvl="1">
              <a:lnSpc>
                <a:spcPts val="6531"/>
              </a:lnSpc>
              <a:buFont typeface="Arial"/>
              <a:buChar char="•"/>
            </a:pPr>
            <a:r>
              <a:rPr lang="en-US" sz="466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Successfully developed a crew management system</a:t>
            </a:r>
          </a:p>
          <a:p>
            <a:pPr algn="l" marL="1007253" indent="-503626" lvl="1">
              <a:lnSpc>
                <a:spcPts val="6531"/>
              </a:lnSpc>
              <a:buFont typeface="Arial"/>
              <a:buChar char="•"/>
            </a:pPr>
            <a:r>
              <a:rPr lang="en-US" sz="466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Demonstrates use of linked list and graph</a:t>
            </a:r>
          </a:p>
          <a:p>
            <a:pPr algn="l" marL="1007253" indent="-503626" lvl="1">
              <a:lnSpc>
                <a:spcPts val="6531"/>
              </a:lnSpc>
              <a:buFont typeface="Arial"/>
              <a:buChar char="•"/>
            </a:pPr>
            <a:r>
              <a:rPr lang="en-US" sz="466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Reduces manual work and errors</a:t>
            </a:r>
          </a:p>
          <a:p>
            <a:pPr algn="l" marL="1007253" indent="-503626" lvl="1">
              <a:lnSpc>
                <a:spcPts val="6531"/>
              </a:lnSpc>
              <a:buFont typeface="Arial"/>
              <a:buChar char="•"/>
            </a:pPr>
            <a:r>
              <a:rPr lang="en-US" sz="466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Easy to use and extend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435729">
            <a:off x="13136433" y="2128445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969" y="859794"/>
            <a:ext cx="15656061" cy="8567413"/>
            <a:chOff x="0" y="0"/>
            <a:chExt cx="20874749" cy="1142321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874749" cy="11423217"/>
              <a:chOff x="0" y="0"/>
              <a:chExt cx="3052642" cy="167048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052642" cy="1670487"/>
              </a:xfrm>
              <a:custGeom>
                <a:avLst/>
                <a:gdLst/>
                <a:ahLst/>
                <a:cxnLst/>
                <a:rect r="r" b="b" t="t" l="l"/>
                <a:pathLst>
                  <a:path h="1670487" w="3052642">
                    <a:moveTo>
                      <a:pt x="13359" y="0"/>
                    </a:moveTo>
                    <a:lnTo>
                      <a:pt x="3039283" y="0"/>
                    </a:lnTo>
                    <a:cubicBezTo>
                      <a:pt x="3046661" y="0"/>
                      <a:pt x="3052642" y="5981"/>
                      <a:pt x="3052642" y="13359"/>
                    </a:cubicBezTo>
                    <a:lnTo>
                      <a:pt x="3052642" y="1657128"/>
                    </a:lnTo>
                    <a:cubicBezTo>
                      <a:pt x="3052642" y="1660671"/>
                      <a:pt x="3051235" y="1664069"/>
                      <a:pt x="3048730" y="1666574"/>
                    </a:cubicBezTo>
                    <a:cubicBezTo>
                      <a:pt x="3046224" y="1669080"/>
                      <a:pt x="3042826" y="1670487"/>
                      <a:pt x="3039283" y="1670487"/>
                    </a:cubicBezTo>
                    <a:lnTo>
                      <a:pt x="13359" y="1670487"/>
                    </a:lnTo>
                    <a:cubicBezTo>
                      <a:pt x="5981" y="1670487"/>
                      <a:pt x="0" y="1664506"/>
                      <a:pt x="0" y="1657128"/>
                    </a:cubicBezTo>
                    <a:lnTo>
                      <a:pt x="0" y="13359"/>
                    </a:lnTo>
                    <a:cubicBezTo>
                      <a:pt x="0" y="9816"/>
                      <a:pt x="1407" y="6418"/>
                      <a:pt x="3913" y="3913"/>
                    </a:cubicBezTo>
                    <a:cubicBezTo>
                      <a:pt x="6418" y="1407"/>
                      <a:pt x="9816" y="0"/>
                      <a:pt x="13359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052642" cy="17085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91065" y="742856"/>
              <a:ext cx="18692618" cy="1649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882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0392" y="1047033"/>
            <a:ext cx="14041246" cy="157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 u="sng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Enhancements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0392" y="2944432"/>
            <a:ext cx="12464818" cy="57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5579" indent="-507790" lvl="1">
              <a:lnSpc>
                <a:spcPts val="6585"/>
              </a:lnSpc>
              <a:buFont typeface="Arial"/>
              <a:buChar char="•"/>
            </a:pPr>
            <a:r>
              <a:rPr lang="en-US" sz="47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 graphical user interface (GUI)</a:t>
            </a:r>
          </a:p>
          <a:p>
            <a:pPr algn="l" marL="1015579" indent="-507790" lvl="1">
              <a:lnSpc>
                <a:spcPts val="6585"/>
              </a:lnSpc>
              <a:buFont typeface="Arial"/>
              <a:buChar char="•"/>
            </a:pPr>
            <a:r>
              <a:rPr lang="en-US" sz="47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Integrate with database (MySQL)</a:t>
            </a:r>
          </a:p>
          <a:p>
            <a:pPr algn="l" marL="1015579" indent="-507790" lvl="1">
              <a:lnSpc>
                <a:spcPts val="6585"/>
              </a:lnSpc>
              <a:buFont typeface="Arial"/>
              <a:buChar char="•"/>
            </a:pPr>
            <a:r>
              <a:rPr lang="en-US" sz="47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 flight scheduling system</a:t>
            </a:r>
          </a:p>
          <a:p>
            <a:pPr algn="l" marL="1015579" indent="-507790" lvl="1">
              <a:lnSpc>
                <a:spcPts val="6585"/>
              </a:lnSpc>
              <a:buFont typeface="Arial"/>
              <a:buChar char="•"/>
            </a:pPr>
            <a:r>
              <a:rPr lang="en-US" sz="47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Convert into web/mobile application</a:t>
            </a:r>
          </a:p>
          <a:p>
            <a:pPr algn="l" marL="1015579" indent="-507790" lvl="1">
              <a:lnSpc>
                <a:spcPts val="6585"/>
              </a:lnSpc>
              <a:buFont typeface="Arial"/>
              <a:buChar char="•"/>
            </a:pPr>
            <a:r>
              <a:rPr lang="en-US" sz="470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Improve visualization using graph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DAHHaAuKgCA</dc:identifier>
  <dcterms:modified xsi:type="dcterms:W3CDTF">2011-08-01T06:04:30Z</dcterms:modified>
  <cp:revision>1</cp:revision>
  <dc:title>Airline Crew Management System</dc:title>
</cp:coreProperties>
</file>